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/>
          <p:cNvSpPr/>
          <p:nvPr/>
        </p:nvSpPr>
        <p:spPr>
          <a:xfrm>
            <a:off x="700000" y="520000"/>
            <a:ext cx="8200000" cy="750000"/>
          </a:xfrm>
        </p:spPr>
        <p:txBody>
          <a:bodyPr/>
          <a:lstStyle/>
          <a:p>
            <a:r>
              <a:rPr lang="en-US" sz="3600" b="1">
                <a:solidFill>
                  <a:srgbClr val="16324F"/>
                </a:solidFill>
              </a:rPr>
              <a:t>AI-Powered Study Assistant Telegram Bot</a:t>
            </a:r>
          </a:p>
        </p:txBody>
      </p:sp>
      <p:sp>
        <p:nvSpPr>
          <p:cNvPr id="12" name="Bullet"/>
          <p:cNvSpPr/>
          <p:nvPr/>
        </p:nvSpPr>
        <p:spPr>
          <a:xfrm>
            <a:off x="900000" y="1700000"/>
            <a:ext cx="7800000" cy="420000"/>
          </a:xfrm>
        </p:spPr>
        <p:txBody>
          <a:bodyPr/>
          <a:lstStyle/>
          <a:p>
            <a:r>
              <a:rPr lang="en-US" sz="2400"/>
              <a:t>• Python final project</a:t>
            </a:r>
          </a:p>
        </p:txBody>
      </p:sp>
      <p:sp>
        <p:nvSpPr>
          <p:cNvPr id="13" name="Bullet"/>
          <p:cNvSpPr/>
          <p:nvPr/>
        </p:nvSpPr>
        <p:spPr>
          <a:xfrm>
            <a:off x="900000" y="2220000"/>
            <a:ext cx="7800000" cy="420000"/>
          </a:xfrm>
        </p:spPr>
        <p:txBody>
          <a:bodyPr/>
          <a:lstStyle/>
          <a:p>
            <a:r>
              <a:rPr lang="en-US" sz="2400"/>
              <a:t>• Telegram Bot + Groq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"/>
          <p:cNvSpPr/>
          <p:nvPr/>
        </p:nvSpPr>
        <p:spPr>
          <a:xfrm>
            <a:off x="700000" y="520000"/>
            <a:ext cx="8200000" cy="750000"/>
          </a:xfrm>
        </p:spPr>
        <p:txBody>
          <a:bodyPr/>
          <a:lstStyle/>
          <a:p>
            <a:r>
              <a:rPr lang="en-US" sz="3600" b="1">
                <a:solidFill>
                  <a:srgbClr val="16324F"/>
                </a:solidFill>
              </a:rPr>
              <a:t>Проблема</a:t>
            </a:r>
          </a:p>
        </p:txBody>
      </p:sp>
      <p:sp>
        <p:nvSpPr>
          <p:cNvPr id="22" name="Bullet"/>
          <p:cNvSpPr/>
          <p:nvPr/>
        </p:nvSpPr>
        <p:spPr>
          <a:xfrm>
            <a:off x="900000" y="1700000"/>
            <a:ext cx="7800000" cy="420000"/>
          </a:xfrm>
        </p:spPr>
        <p:txBody>
          <a:bodyPr/>
          <a:lstStyle/>
          <a:p>
            <a:r>
              <a:rPr lang="en-US" sz="2400"/>
              <a:t>• Студентам часто нужна быстрая помощь во время учебы.</a:t>
            </a:r>
          </a:p>
        </p:txBody>
      </p:sp>
      <p:sp>
        <p:nvSpPr>
          <p:cNvPr id="23" name="Bullet"/>
          <p:cNvSpPr/>
          <p:nvPr/>
        </p:nvSpPr>
        <p:spPr>
          <a:xfrm>
            <a:off x="900000" y="2220000"/>
            <a:ext cx="7800000" cy="420000"/>
          </a:xfrm>
        </p:spPr>
        <p:txBody>
          <a:bodyPr/>
          <a:lstStyle/>
          <a:p>
            <a:r>
              <a:rPr lang="en-US" sz="2400"/>
              <a:t>• Нужно объяснять темы, создавать quiz и сохранять заметки.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"/>
          <p:cNvSpPr/>
          <p:nvPr/>
        </p:nvSpPr>
        <p:spPr>
          <a:xfrm>
            <a:off x="700000" y="520000"/>
            <a:ext cx="8200000" cy="750000"/>
          </a:xfrm>
        </p:spPr>
        <p:txBody>
          <a:bodyPr/>
          <a:lstStyle/>
          <a:p>
            <a:r>
              <a:rPr lang="en-US" sz="3600" b="1">
                <a:solidFill>
                  <a:srgbClr val="16324F"/>
                </a:solidFill>
              </a:rPr>
              <a:t>Решение</a:t>
            </a:r>
          </a:p>
        </p:txBody>
      </p:sp>
      <p:sp>
        <p:nvSpPr>
          <p:cNvPr id="32" name="Bullet"/>
          <p:cNvSpPr/>
          <p:nvPr/>
        </p:nvSpPr>
        <p:spPr>
          <a:xfrm>
            <a:off x="900000" y="1700000"/>
            <a:ext cx="7800000" cy="420000"/>
          </a:xfrm>
        </p:spPr>
        <p:txBody>
          <a:bodyPr/>
          <a:lstStyle/>
          <a:p>
            <a:r>
              <a:rPr lang="en-US" sz="2400"/>
              <a:t>• Telegram-бот работает как AI study assistant.</a:t>
            </a:r>
          </a:p>
        </p:txBody>
      </p:sp>
      <p:sp>
        <p:nvSpPr>
          <p:cNvPr id="33" name="Bullet"/>
          <p:cNvSpPr/>
          <p:nvPr/>
        </p:nvSpPr>
        <p:spPr>
          <a:xfrm>
            <a:off x="900000" y="2220000"/>
            <a:ext cx="7800000" cy="420000"/>
          </a:xfrm>
        </p:spPr>
        <p:txBody>
          <a:bodyPr/>
          <a:lstStyle/>
          <a:p>
            <a:r>
              <a:rPr lang="en-US" sz="2400"/>
              <a:t>• Пользователь задает вопрос, а бот отвечает через Groq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"/>
          <p:cNvSpPr/>
          <p:nvPr/>
        </p:nvSpPr>
        <p:spPr>
          <a:xfrm>
            <a:off x="700000" y="520000"/>
            <a:ext cx="8200000" cy="750000"/>
          </a:xfrm>
        </p:spPr>
        <p:txBody>
          <a:bodyPr/>
          <a:lstStyle/>
          <a:p>
            <a:r>
              <a:rPr lang="en-US" sz="3600" b="1">
                <a:solidFill>
                  <a:srgbClr val="16324F"/>
                </a:solidFill>
              </a:rPr>
              <a:t>Технологии</a:t>
            </a:r>
          </a:p>
        </p:txBody>
      </p:sp>
      <p:sp>
        <p:nvSpPr>
          <p:cNvPr id="42" name="Bullet"/>
          <p:cNvSpPr/>
          <p:nvPr/>
        </p:nvSpPr>
        <p:spPr>
          <a:xfrm>
            <a:off x="900000" y="1700000"/>
            <a:ext cx="7800000" cy="420000"/>
          </a:xfrm>
        </p:spPr>
        <p:txBody>
          <a:bodyPr/>
          <a:lstStyle/>
          <a:p>
            <a:r>
              <a:rPr lang="en-US" sz="2400"/>
              <a:t>• Python</a:t>
            </a:r>
          </a:p>
        </p:txBody>
      </p:sp>
      <p:sp>
        <p:nvSpPr>
          <p:cNvPr id="43" name="Bullet"/>
          <p:cNvSpPr/>
          <p:nvPr/>
        </p:nvSpPr>
        <p:spPr>
          <a:xfrm>
            <a:off x="900000" y="2220000"/>
            <a:ext cx="7800000" cy="420000"/>
          </a:xfrm>
        </p:spPr>
        <p:txBody>
          <a:bodyPr/>
          <a:lstStyle/>
          <a:p>
            <a:r>
              <a:rPr lang="en-US" sz="2400"/>
              <a:t>• Telegram Bot API</a:t>
            </a:r>
          </a:p>
        </p:txBody>
      </p:sp>
      <p:sp>
        <p:nvSpPr>
          <p:cNvPr id="44" name="Bullet"/>
          <p:cNvSpPr/>
          <p:nvPr/>
        </p:nvSpPr>
        <p:spPr>
          <a:xfrm>
            <a:off x="900000" y="2740000"/>
            <a:ext cx="7800000" cy="420000"/>
          </a:xfrm>
        </p:spPr>
        <p:txBody>
          <a:bodyPr/>
          <a:lstStyle/>
          <a:p>
            <a:r>
              <a:rPr lang="en-US" sz="2400"/>
              <a:t>• Groq API</a:t>
            </a:r>
          </a:p>
        </p:txBody>
      </p:sp>
      <p:sp>
        <p:nvSpPr>
          <p:cNvPr id="45" name="Bullet"/>
          <p:cNvSpPr/>
          <p:nvPr/>
        </p:nvSpPr>
        <p:spPr>
          <a:xfrm>
            <a:off x="900000" y="3260000"/>
            <a:ext cx="7800000" cy="420000"/>
          </a:xfrm>
        </p:spPr>
        <p:txBody>
          <a:bodyPr/>
          <a:lstStyle/>
          <a:p>
            <a:r>
              <a:rPr lang="en-US" sz="2400"/>
              <a:t>• JSON and CSV</a:t>
            </a:r>
          </a:p>
        </p:txBody>
      </p:sp>
      <p:sp>
        <p:nvSpPr>
          <p:cNvPr id="46" name="Bullet"/>
          <p:cNvSpPr/>
          <p:nvPr/>
        </p:nvSpPr>
        <p:spPr>
          <a:xfrm>
            <a:off x="900000" y="3780000"/>
            <a:ext cx="7800000" cy="420000"/>
          </a:xfrm>
        </p:spPr>
        <p:txBody>
          <a:bodyPr/>
          <a:lstStyle/>
          <a:p>
            <a:r>
              <a:rPr lang="en-US" sz="2400"/>
              <a:t>• unittest</a:t>
            </a:r>
          </a:p>
        </p:txBody>
      </p:sp>
      <p:sp>
        <p:nvSpPr>
          <p:cNvPr id="47" name="Bullet"/>
          <p:cNvSpPr/>
          <p:nvPr/>
        </p:nvSpPr>
        <p:spPr>
          <a:xfrm>
            <a:off x="900000" y="4300000"/>
            <a:ext cx="7800000" cy="420000"/>
          </a:xfrm>
        </p:spPr>
        <p:txBody>
          <a:bodyPr/>
          <a:lstStyle/>
          <a:p>
            <a:r>
              <a:rPr lang="en-US" sz="2400"/>
              <a:t>• Git and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"/>
          <p:cNvSpPr/>
          <p:nvPr/>
        </p:nvSpPr>
        <p:spPr>
          <a:xfrm>
            <a:off x="700000" y="520000"/>
            <a:ext cx="8200000" cy="750000"/>
          </a:xfrm>
        </p:spPr>
        <p:txBody>
          <a:bodyPr/>
          <a:lstStyle/>
          <a:p>
            <a:r>
              <a:rPr lang="en-US" sz="3600" b="1">
                <a:solidFill>
                  <a:srgbClr val="16324F"/>
                </a:solidFill>
              </a:rPr>
              <a:t>Команды бота</a:t>
            </a:r>
          </a:p>
        </p:txBody>
      </p:sp>
      <p:sp>
        <p:nvSpPr>
          <p:cNvPr id="52" name="Bullet"/>
          <p:cNvSpPr/>
          <p:nvPr/>
        </p:nvSpPr>
        <p:spPr>
          <a:xfrm>
            <a:off x="900000" y="1700000"/>
            <a:ext cx="7800000" cy="420000"/>
          </a:xfrm>
        </p:spPr>
        <p:txBody>
          <a:bodyPr/>
          <a:lstStyle/>
          <a:p>
            <a:r>
              <a:rPr lang="en-US" sz="2400"/>
              <a:t>• /start - welcome</a:t>
            </a:r>
          </a:p>
        </p:txBody>
      </p:sp>
      <p:sp>
        <p:nvSpPr>
          <p:cNvPr id="53" name="Bullet"/>
          <p:cNvSpPr/>
          <p:nvPr/>
        </p:nvSpPr>
        <p:spPr>
          <a:xfrm>
            <a:off x="900000" y="2220000"/>
            <a:ext cx="7800000" cy="420000"/>
          </a:xfrm>
        </p:spPr>
        <p:txBody>
          <a:bodyPr/>
          <a:lstStyle/>
          <a:p>
            <a:r>
              <a:rPr lang="en-US" sz="2400"/>
              <a:t>• /help - commands</a:t>
            </a:r>
          </a:p>
        </p:txBody>
      </p:sp>
      <p:sp>
        <p:nvSpPr>
          <p:cNvPr id="54" name="Bullet"/>
          <p:cNvSpPr/>
          <p:nvPr/>
        </p:nvSpPr>
        <p:spPr>
          <a:xfrm>
            <a:off x="900000" y="2740000"/>
            <a:ext cx="7800000" cy="420000"/>
          </a:xfrm>
        </p:spPr>
        <p:txBody>
          <a:bodyPr/>
          <a:lstStyle/>
          <a:p>
            <a:r>
              <a:rPr lang="en-US" sz="2400"/>
              <a:t>• /ask - AI answer</a:t>
            </a:r>
          </a:p>
        </p:txBody>
      </p:sp>
      <p:sp>
        <p:nvSpPr>
          <p:cNvPr id="55" name="Bullet"/>
          <p:cNvSpPr/>
          <p:nvPr/>
        </p:nvSpPr>
        <p:spPr>
          <a:xfrm>
            <a:off x="900000" y="3260000"/>
            <a:ext cx="7800000" cy="420000"/>
          </a:xfrm>
        </p:spPr>
        <p:txBody>
          <a:bodyPr/>
          <a:lstStyle/>
          <a:p>
            <a:r>
              <a:rPr lang="en-US" sz="2400"/>
              <a:t>• /quiz - quiz</a:t>
            </a:r>
          </a:p>
        </p:txBody>
      </p:sp>
      <p:sp>
        <p:nvSpPr>
          <p:cNvPr id="56" name="Bullet"/>
          <p:cNvSpPr/>
          <p:nvPr/>
        </p:nvSpPr>
        <p:spPr>
          <a:xfrm>
            <a:off x="900000" y="3780000"/>
            <a:ext cx="7800000" cy="420000"/>
          </a:xfrm>
        </p:spPr>
        <p:txBody>
          <a:bodyPr/>
          <a:lstStyle/>
          <a:p>
            <a:r>
              <a:rPr lang="en-US" sz="2400"/>
              <a:t>• /note and /notes - notes</a:t>
            </a:r>
          </a:p>
        </p:txBody>
      </p:sp>
      <p:sp>
        <p:nvSpPr>
          <p:cNvPr id="57" name="Bullet"/>
          <p:cNvSpPr/>
          <p:nvPr/>
        </p:nvSpPr>
        <p:spPr>
          <a:xfrm>
            <a:off x="900000" y="4300000"/>
            <a:ext cx="7800000" cy="420000"/>
          </a:xfrm>
        </p:spPr>
        <p:txBody>
          <a:bodyPr/>
          <a:lstStyle/>
          <a:p>
            <a:r>
              <a:rPr lang="en-US" sz="2400"/>
              <a:t>• /stats - statistics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itle"/>
          <p:cNvSpPr/>
          <p:nvPr/>
        </p:nvSpPr>
        <p:spPr>
          <a:xfrm>
            <a:off x="700000" y="520000"/>
            <a:ext cx="8200000" cy="750000"/>
          </a:xfrm>
        </p:spPr>
        <p:txBody>
          <a:bodyPr/>
          <a:lstStyle/>
          <a:p>
            <a:r>
              <a:rPr lang="en-US" sz="3600" b="1">
                <a:solidFill>
                  <a:srgbClr val="16324F"/>
                </a:solidFill>
              </a:rPr>
              <a:t>Архитектура</a:t>
            </a:r>
          </a:p>
        </p:txBody>
      </p:sp>
      <p:sp>
        <p:nvSpPr>
          <p:cNvPr id="62" name="Bullet"/>
          <p:cNvSpPr/>
          <p:nvPr/>
        </p:nvSpPr>
        <p:spPr>
          <a:xfrm>
            <a:off x="900000" y="1700000"/>
            <a:ext cx="7800000" cy="420000"/>
          </a:xfrm>
        </p:spPr>
        <p:txBody>
          <a:bodyPr/>
          <a:lstStyle/>
          <a:p>
            <a:r>
              <a:rPr lang="en-US" sz="2400"/>
              <a:t>• main.py - запуск</a:t>
            </a:r>
          </a:p>
        </p:txBody>
      </p:sp>
      <p:sp>
        <p:nvSpPr>
          <p:cNvPr id="63" name="Bullet"/>
          <p:cNvSpPr/>
          <p:nvPr/>
        </p:nvSpPr>
        <p:spPr>
          <a:xfrm>
            <a:off x="900000" y="2220000"/>
            <a:ext cx="7800000" cy="420000"/>
          </a:xfrm>
        </p:spPr>
        <p:txBody>
          <a:bodyPr/>
          <a:lstStyle/>
          <a:p>
            <a:r>
              <a:rPr lang="en-US" sz="2400"/>
              <a:t>• bot.py - Telegram logic</a:t>
            </a:r>
          </a:p>
        </p:txBody>
      </p:sp>
      <p:sp>
        <p:nvSpPr>
          <p:cNvPr id="64" name="Bullet"/>
          <p:cNvSpPr/>
          <p:nvPr/>
        </p:nvSpPr>
        <p:spPr>
          <a:xfrm>
            <a:off x="900000" y="2740000"/>
            <a:ext cx="7800000" cy="420000"/>
          </a:xfrm>
        </p:spPr>
        <p:txBody>
          <a:bodyPr/>
          <a:lstStyle/>
          <a:p>
            <a:r>
              <a:rPr lang="en-US" sz="2400"/>
              <a:t>• groq_client.py - AI API</a:t>
            </a:r>
          </a:p>
        </p:txBody>
      </p:sp>
      <p:sp>
        <p:nvSpPr>
          <p:cNvPr id="65" name="Bullet"/>
          <p:cNvSpPr/>
          <p:nvPr/>
        </p:nvSpPr>
        <p:spPr>
          <a:xfrm>
            <a:off x="900000" y="3260000"/>
            <a:ext cx="7800000" cy="420000"/>
          </a:xfrm>
        </p:spPr>
        <p:txBody>
          <a:bodyPr/>
          <a:lstStyle/>
          <a:p>
            <a:r>
              <a:rPr lang="en-US" sz="2400"/>
              <a:t>• data_manager.py - files</a:t>
            </a:r>
          </a:p>
        </p:txBody>
      </p:sp>
      <p:sp>
        <p:nvSpPr>
          <p:cNvPr id="66" name="Bullet"/>
          <p:cNvSpPr/>
          <p:nvPr/>
        </p:nvSpPr>
        <p:spPr>
          <a:xfrm>
            <a:off x="900000" y="3780000"/>
            <a:ext cx="7800000" cy="420000"/>
          </a:xfrm>
        </p:spPr>
        <p:txBody>
          <a:bodyPr/>
          <a:lstStyle/>
          <a:p>
            <a:r>
              <a:rPr lang="en-US" sz="2400"/>
              <a:t>• models.py - OOP</a:t>
            </a:r>
          </a:p>
        </p:txBody>
      </p:sp>
      <p:sp>
        <p:nvSpPr>
          <p:cNvPr id="67" name="Bullet"/>
          <p:cNvSpPr/>
          <p:nvPr/>
        </p:nvSpPr>
        <p:spPr>
          <a:xfrm>
            <a:off x="900000" y="4300000"/>
            <a:ext cx="7800000" cy="420000"/>
          </a:xfrm>
        </p:spPr>
        <p:txBody>
          <a:bodyPr/>
          <a:lstStyle/>
          <a:p>
            <a:r>
              <a:rPr lang="en-US" sz="2400"/>
              <a:t>• tests/ - unit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"/>
          <p:cNvSpPr/>
          <p:nvPr/>
        </p:nvSpPr>
        <p:spPr>
          <a:xfrm>
            <a:off x="700000" y="520000"/>
            <a:ext cx="8200000" cy="750000"/>
          </a:xfrm>
        </p:spPr>
        <p:txBody>
          <a:bodyPr/>
          <a:lstStyle/>
          <a:p>
            <a:r>
              <a:rPr lang="en-US" sz="3600" b="1">
                <a:solidFill>
                  <a:srgbClr val="16324F"/>
                </a:solidFill>
              </a:rPr>
              <a:t>Groq API</a:t>
            </a:r>
          </a:p>
        </p:txBody>
      </p:sp>
      <p:sp>
        <p:nvSpPr>
          <p:cNvPr id="72" name="Bullet"/>
          <p:cNvSpPr/>
          <p:nvPr/>
        </p:nvSpPr>
        <p:spPr>
          <a:xfrm>
            <a:off x="900000" y="1700000"/>
            <a:ext cx="7800000" cy="420000"/>
          </a:xfrm>
        </p:spPr>
        <p:txBody>
          <a:bodyPr/>
          <a:lstStyle/>
          <a:p>
            <a:r>
              <a:rPr lang="en-US" sz="2400"/>
              <a:t>• Бот получает вопрос от пользователя.</a:t>
            </a:r>
          </a:p>
        </p:txBody>
      </p:sp>
      <p:sp>
        <p:nvSpPr>
          <p:cNvPr id="73" name="Bullet"/>
          <p:cNvSpPr/>
          <p:nvPr/>
        </p:nvSpPr>
        <p:spPr>
          <a:xfrm>
            <a:off x="900000" y="2220000"/>
            <a:ext cx="7800000" cy="420000"/>
          </a:xfrm>
        </p:spPr>
        <p:txBody>
          <a:bodyPr/>
          <a:lstStyle/>
          <a:p>
            <a:r>
              <a:rPr lang="en-US" sz="2400"/>
              <a:t>• GroqClient отправляет prompt в Groq API.</a:t>
            </a:r>
          </a:p>
        </p:txBody>
      </p:sp>
      <p:sp>
        <p:nvSpPr>
          <p:cNvPr id="74" name="Bullet"/>
          <p:cNvSpPr/>
          <p:nvPr/>
        </p:nvSpPr>
        <p:spPr>
          <a:xfrm>
            <a:off x="900000" y="2740000"/>
            <a:ext cx="7800000" cy="420000"/>
          </a:xfrm>
        </p:spPr>
        <p:txBody>
          <a:bodyPr/>
          <a:lstStyle/>
          <a:p>
            <a:r>
              <a:rPr lang="en-US" sz="2400"/>
              <a:t>• Ответ возвращается пользователю в Telegram.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"/>
          <p:cNvSpPr/>
          <p:nvPr/>
        </p:nvSpPr>
        <p:spPr>
          <a:xfrm>
            <a:off x="700000" y="520000"/>
            <a:ext cx="8200000" cy="750000"/>
          </a:xfrm>
        </p:spPr>
        <p:txBody>
          <a:bodyPr/>
          <a:lstStyle/>
          <a:p>
            <a:r>
              <a:rPr lang="en-US" sz="3600" b="1">
                <a:solidFill>
                  <a:srgbClr val="16324F"/>
                </a:solidFill>
              </a:rPr>
              <a:t>Работа с данными</a:t>
            </a:r>
          </a:p>
        </p:txBody>
      </p:sp>
      <p:sp>
        <p:nvSpPr>
          <p:cNvPr id="82" name="Bullet"/>
          <p:cNvSpPr/>
          <p:nvPr/>
        </p:nvSpPr>
        <p:spPr>
          <a:xfrm>
            <a:off x="900000" y="1700000"/>
            <a:ext cx="7800000" cy="420000"/>
          </a:xfrm>
        </p:spPr>
        <p:txBody>
          <a:bodyPr/>
          <a:lstStyle/>
          <a:p>
            <a:r>
              <a:rPr lang="en-US" sz="2400"/>
              <a:t>• notes.json хранит заметки.</a:t>
            </a:r>
          </a:p>
        </p:txBody>
      </p:sp>
      <p:sp>
        <p:nvSpPr>
          <p:cNvPr id="83" name="Bullet"/>
          <p:cNvSpPr/>
          <p:nvPr/>
        </p:nvSpPr>
        <p:spPr>
          <a:xfrm>
            <a:off x="900000" y="2220000"/>
            <a:ext cx="7800000" cy="420000"/>
          </a:xfrm>
        </p:spPr>
        <p:txBody>
          <a:bodyPr/>
          <a:lstStyle/>
          <a:p>
            <a:r>
              <a:rPr lang="en-US" sz="2400"/>
              <a:t>• history.csv хранит историю действий.</a:t>
            </a:r>
          </a:p>
        </p:txBody>
      </p:sp>
      <p:sp>
        <p:nvSpPr>
          <p:cNvPr id="84" name="Bullet"/>
          <p:cNvSpPr/>
          <p:nvPr/>
        </p:nvSpPr>
        <p:spPr>
          <a:xfrm>
            <a:off x="900000" y="2740000"/>
            <a:ext cx="7800000" cy="420000"/>
          </a:xfrm>
        </p:spPr>
        <p:txBody>
          <a:bodyPr/>
          <a:lstStyle/>
          <a:p>
            <a:r>
              <a:rPr lang="en-US" sz="2400"/>
              <a:t>• os module создает папку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"/>
          <p:cNvSpPr/>
          <p:nvPr/>
        </p:nvSpPr>
        <p:spPr>
          <a:xfrm>
            <a:off x="700000" y="520000"/>
            <a:ext cx="8200000" cy="750000"/>
          </a:xfrm>
        </p:spPr>
        <p:txBody>
          <a:bodyPr/>
          <a:lstStyle/>
          <a:p>
            <a:r>
              <a:rPr lang="en-US" sz="3600" b="1">
                <a:solidFill>
                  <a:srgbClr val="16324F"/>
                </a:solidFill>
              </a:rPr>
              <a:t>OOP</a:t>
            </a:r>
          </a:p>
        </p:txBody>
      </p:sp>
      <p:sp>
        <p:nvSpPr>
          <p:cNvPr id="92" name="Bullet"/>
          <p:cNvSpPr/>
          <p:nvPr/>
        </p:nvSpPr>
        <p:spPr>
          <a:xfrm>
            <a:off x="900000" y="1700000"/>
            <a:ext cx="7800000" cy="420000"/>
          </a:xfrm>
        </p:spPr>
        <p:txBody>
          <a:bodyPr/>
          <a:lstStyle/>
          <a:p>
            <a:r>
              <a:rPr lang="en-US" sz="2400"/>
              <a:t>• Classes: StudyAssistantBot, DataManager, GroqClient.</a:t>
            </a:r>
          </a:p>
        </p:txBody>
      </p:sp>
      <p:sp>
        <p:nvSpPr>
          <p:cNvPr id="93" name="Bullet"/>
          <p:cNvSpPr/>
          <p:nvPr/>
        </p:nvSpPr>
        <p:spPr>
          <a:xfrm>
            <a:off x="900000" y="2220000"/>
            <a:ext cx="7800000" cy="420000"/>
          </a:xfrm>
        </p:spPr>
        <p:txBody>
          <a:bodyPr/>
          <a:lstStyle/>
          <a:p>
            <a:r>
              <a:rPr lang="en-US" sz="2400"/>
              <a:t>• Inheritance: QuizSession inherits StudySession.</a:t>
            </a:r>
          </a:p>
        </p:txBody>
      </p:sp>
      <p:sp>
        <p:nvSpPr>
          <p:cNvPr id="94" name="Bullet"/>
          <p:cNvSpPr/>
          <p:nvPr/>
        </p:nvSpPr>
        <p:spPr>
          <a:xfrm>
            <a:off x="900000" y="2740000"/>
            <a:ext cx="7800000" cy="420000"/>
          </a:xfrm>
        </p:spPr>
        <p:txBody>
          <a:bodyPr/>
          <a:lstStyle/>
          <a:p>
            <a:r>
              <a:rPr lang="en-US" sz="2400"/>
              <a:t>• Polymorphism: describe() works differently.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/>
          <p:nvPr/>
        </p:nvSpPr>
        <p:spPr>
          <a:xfrm>
            <a:off x="700000" y="520000"/>
            <a:ext cx="8200000" cy="750000"/>
          </a:xfrm>
        </p:spPr>
        <p:txBody>
          <a:bodyPr/>
          <a:lstStyle/>
          <a:p>
            <a:r>
              <a:rPr lang="en-US" sz="3600" b="1">
                <a:solidFill>
                  <a:srgbClr val="16324F"/>
                </a:solidFill>
              </a:rPr>
              <a:t>Python topics</a:t>
            </a:r>
          </a:p>
        </p:txBody>
      </p:sp>
      <p:sp>
        <p:nvSpPr>
          <p:cNvPr id="102" name="Bullet"/>
          <p:cNvSpPr/>
          <p:nvPr/>
        </p:nvSpPr>
        <p:spPr>
          <a:xfrm>
            <a:off x="900000" y="1700000"/>
            <a:ext cx="7800000" cy="420000"/>
          </a:xfrm>
        </p:spPr>
        <p:txBody>
          <a:bodyPr/>
          <a:lstStyle/>
          <a:p>
            <a:r>
              <a:rPr lang="en-US" sz="2400"/>
              <a:t>• Variables and data types</a:t>
            </a:r>
          </a:p>
        </p:txBody>
      </p:sp>
      <p:sp>
        <p:nvSpPr>
          <p:cNvPr id="103" name="Bullet"/>
          <p:cNvSpPr/>
          <p:nvPr/>
        </p:nvSpPr>
        <p:spPr>
          <a:xfrm>
            <a:off x="900000" y="2220000"/>
            <a:ext cx="7800000" cy="420000"/>
          </a:xfrm>
        </p:spPr>
        <p:txBody>
          <a:bodyPr/>
          <a:lstStyle/>
          <a:p>
            <a:r>
              <a:rPr lang="en-US" sz="2400"/>
              <a:t>• Conditions and loops</a:t>
            </a:r>
          </a:p>
        </p:txBody>
      </p:sp>
      <p:sp>
        <p:nvSpPr>
          <p:cNvPr id="104" name="Bullet"/>
          <p:cNvSpPr/>
          <p:nvPr/>
        </p:nvSpPr>
        <p:spPr>
          <a:xfrm>
            <a:off x="900000" y="2740000"/>
            <a:ext cx="7800000" cy="420000"/>
          </a:xfrm>
        </p:spPr>
        <p:txBody>
          <a:bodyPr/>
          <a:lstStyle/>
          <a:p>
            <a:r>
              <a:rPr lang="en-US" sz="2400"/>
              <a:t>• Collections</a:t>
            </a:r>
          </a:p>
        </p:txBody>
      </p:sp>
      <p:sp>
        <p:nvSpPr>
          <p:cNvPr id="105" name="Bullet"/>
          <p:cNvSpPr/>
          <p:nvPr/>
        </p:nvSpPr>
        <p:spPr>
          <a:xfrm>
            <a:off x="900000" y="3260000"/>
            <a:ext cx="7800000" cy="420000"/>
          </a:xfrm>
        </p:spPr>
        <p:txBody>
          <a:bodyPr/>
          <a:lstStyle/>
          <a:p>
            <a:r>
              <a:rPr lang="en-US" sz="2400"/>
              <a:t>• Functions</a:t>
            </a:r>
          </a:p>
        </p:txBody>
      </p:sp>
      <p:sp>
        <p:nvSpPr>
          <p:cNvPr id="106" name="Bullet"/>
          <p:cNvSpPr/>
          <p:nvPr/>
        </p:nvSpPr>
        <p:spPr>
          <a:xfrm>
            <a:off x="900000" y="3780000"/>
            <a:ext cx="7800000" cy="420000"/>
          </a:xfrm>
        </p:spPr>
        <p:txBody>
          <a:bodyPr/>
          <a:lstStyle/>
          <a:p>
            <a:r>
              <a:rPr lang="en-US" sz="2400"/>
              <a:t>• Decorators</a:t>
            </a:r>
          </a:p>
        </p:txBody>
      </p:sp>
      <p:sp>
        <p:nvSpPr>
          <p:cNvPr id="107" name="Bullet"/>
          <p:cNvSpPr/>
          <p:nvPr/>
        </p:nvSpPr>
        <p:spPr>
          <a:xfrm>
            <a:off x="900000" y="4300000"/>
            <a:ext cx="7800000" cy="420000"/>
          </a:xfrm>
        </p:spPr>
        <p:txBody>
          <a:bodyPr/>
          <a:lstStyle/>
          <a:p>
            <a:r>
              <a:rPr lang="en-US" sz="2400"/>
              <a:t>• Iterators and generators</a:t>
            </a:r>
          </a:p>
        </p:txBody>
      </p:sp>
      <p:sp>
        <p:nvSpPr>
          <p:cNvPr id="108" name="Bullet"/>
          <p:cNvSpPr/>
          <p:nvPr/>
        </p:nvSpPr>
        <p:spPr>
          <a:xfrm>
            <a:off x="900000" y="4820000"/>
            <a:ext cx="7800000" cy="420000"/>
          </a:xfrm>
        </p:spPr>
        <p:txBody>
          <a:bodyPr/>
          <a:lstStyle/>
          <a:p>
            <a:r>
              <a:rPr lang="en-US" sz="2400"/>
              <a:t>• Regular expressions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"/>
          <p:cNvSpPr/>
          <p:nvPr/>
        </p:nvSpPr>
        <p:spPr>
          <a:xfrm>
            <a:off x="700000" y="520000"/>
            <a:ext cx="8200000" cy="750000"/>
          </a:xfrm>
        </p:spPr>
        <p:txBody>
          <a:bodyPr/>
          <a:lstStyle/>
          <a:p>
            <a:r>
              <a:rPr lang="en-US" sz="3600" b="1">
                <a:solidFill>
                  <a:srgbClr val="16324F"/>
                </a:solidFill>
              </a:rPr>
              <a:t>Testing</a:t>
            </a:r>
          </a:p>
        </p:txBody>
      </p:sp>
      <p:sp>
        <p:nvSpPr>
          <p:cNvPr id="112" name="Bullet"/>
          <p:cNvSpPr/>
          <p:nvPr/>
        </p:nvSpPr>
        <p:spPr>
          <a:xfrm>
            <a:off x="900000" y="1700000"/>
            <a:ext cx="7800000" cy="420000"/>
          </a:xfrm>
        </p:spPr>
        <p:txBody>
          <a:bodyPr/>
          <a:lstStyle/>
          <a:p>
            <a:r>
              <a:rPr lang="en-US" sz="2400"/>
              <a:t>• Unit tests are stored in tests/.</a:t>
            </a:r>
          </a:p>
        </p:txBody>
      </p:sp>
      <p:sp>
        <p:nvSpPr>
          <p:cNvPr id="113" name="Bullet"/>
          <p:cNvSpPr/>
          <p:nvPr/>
        </p:nvSpPr>
        <p:spPr>
          <a:xfrm>
            <a:off x="900000" y="2220000"/>
            <a:ext cx="7800000" cy="420000"/>
          </a:xfrm>
        </p:spPr>
        <p:txBody>
          <a:bodyPr/>
          <a:lstStyle/>
          <a:p>
            <a:r>
              <a:rPr lang="en-US" sz="2400"/>
              <a:t>• Command: python -m unittest discover tests</a:t>
            </a:r>
          </a:p>
        </p:txBody>
      </p:sp>
      <p:sp>
        <p:nvSpPr>
          <p:cNvPr id="114" name="Bullet"/>
          <p:cNvSpPr/>
          <p:nvPr/>
        </p:nvSpPr>
        <p:spPr>
          <a:xfrm>
            <a:off x="900000" y="2740000"/>
            <a:ext cx="7800000" cy="420000"/>
          </a:xfrm>
        </p:spPr>
        <p:txBody>
          <a:bodyPr/>
          <a:lstStyle/>
          <a:p>
            <a:r>
              <a:rPr lang="en-US" sz="2400"/>
              <a:t>• Tests check text tools and data manager.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"/>
          <p:cNvSpPr/>
          <p:nvPr/>
        </p:nvSpPr>
        <p:spPr>
          <a:xfrm>
            <a:off x="700000" y="520000"/>
            <a:ext cx="8200000" cy="750000"/>
          </a:xfrm>
        </p:spPr>
        <p:txBody>
          <a:bodyPr/>
          <a:lstStyle/>
          <a:p>
            <a:r>
              <a:rPr lang="en-US" sz="3600" b="1">
                <a:solidFill>
                  <a:srgbClr val="16324F"/>
                </a:solidFill>
              </a:rPr>
              <a:t>Conclusion</a:t>
            </a:r>
          </a:p>
        </p:txBody>
      </p:sp>
      <p:sp>
        <p:nvSpPr>
          <p:cNvPr id="122" name="Bullet"/>
          <p:cNvSpPr/>
          <p:nvPr/>
        </p:nvSpPr>
        <p:spPr>
          <a:xfrm>
            <a:off x="900000" y="1700000"/>
            <a:ext cx="7800000" cy="420000"/>
          </a:xfrm>
        </p:spPr>
        <p:txBody>
          <a:bodyPr/>
          <a:lstStyle/>
          <a:p>
            <a:r>
              <a:rPr lang="en-US" sz="2400"/>
              <a:t>• The project is a real-world Python application.</a:t>
            </a:r>
          </a:p>
        </p:txBody>
      </p:sp>
      <p:sp>
        <p:nvSpPr>
          <p:cNvPr id="123" name="Bullet"/>
          <p:cNvSpPr/>
          <p:nvPr/>
        </p:nvSpPr>
        <p:spPr>
          <a:xfrm>
            <a:off x="900000" y="2220000"/>
            <a:ext cx="7800000" cy="420000"/>
          </a:xfrm>
        </p:spPr>
        <p:txBody>
          <a:bodyPr/>
          <a:lstStyle/>
          <a:p>
            <a:r>
              <a:rPr lang="en-US" sz="2400"/>
              <a:t>• It is useful, readable, and covers the main course topics.</a:t>
            </a:r>
          </a:p>
        </p:txBody>
      </p:sp>
    </p:spTree>
  </p:cSld>
  <p:clrMapOvr>
    <a:masterClrMapping/>
  </p:clrMapOvr>
</p:sld>
</file>